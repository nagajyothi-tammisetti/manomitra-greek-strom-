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Bell MT W01 SemiBold"/>
      <p:regular r:id="rId11"/>
      <p:bold r:id="rId12"/>
      <p:italic r:id="rId13"/>
      <p:boldItalic r:id="rId14"/>
    </p:embeddedFont>
    <p:embeddedFont>
      <p:font typeface="Libre Baskerville"/>
      <p:regular r:id="rId15"/>
      <p:bold r:id="rId16"/>
      <p:italic r:id="rId17"/>
      <p:boldItalic r:id="rId18"/>
    </p:embeddedFont>
    <p:embeddedFont>
      <p:font typeface="Bell M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llMT-bold.fntdata"/><Relationship Id="rId11" Type="http://schemas.openxmlformats.org/officeDocument/2006/relationships/font" Target="fonts/BellMTW01SemiBold-regular.fntdata"/><Relationship Id="rId22" Type="http://schemas.openxmlformats.org/officeDocument/2006/relationships/font" Target="fonts/BellMT-boldItalic.fntdata"/><Relationship Id="rId10" Type="http://schemas.openxmlformats.org/officeDocument/2006/relationships/slide" Target="slides/slide6.xml"/><Relationship Id="rId21" Type="http://schemas.openxmlformats.org/officeDocument/2006/relationships/font" Target="fonts/BellMT-italic.fntdata"/><Relationship Id="rId13" Type="http://schemas.openxmlformats.org/officeDocument/2006/relationships/font" Target="fonts/BellMTW01SemiBold-italic.fntdata"/><Relationship Id="rId12" Type="http://schemas.openxmlformats.org/officeDocument/2006/relationships/font" Target="fonts/BellMTW01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Baskerville-regular.fntdata"/><Relationship Id="rId14" Type="http://schemas.openxmlformats.org/officeDocument/2006/relationships/font" Target="fonts/BellMTW01SemiBold-boldItalic.fntdata"/><Relationship Id="rId17" Type="http://schemas.openxmlformats.org/officeDocument/2006/relationships/font" Target="fonts/LibreBaskerville-italic.fntdata"/><Relationship Id="rId16" Type="http://schemas.openxmlformats.org/officeDocument/2006/relationships/font" Target="fonts/LibreBaskerville-bold.fntdata"/><Relationship Id="rId5" Type="http://schemas.openxmlformats.org/officeDocument/2006/relationships/slide" Target="slides/slide1.xml"/><Relationship Id="rId19" Type="http://schemas.openxmlformats.org/officeDocument/2006/relationships/font" Target="fonts/BellMT-regular.fntdata"/><Relationship Id="rId6" Type="http://schemas.openxmlformats.org/officeDocument/2006/relationships/slide" Target="slides/slide2.xml"/><Relationship Id="rId18" Type="http://schemas.openxmlformats.org/officeDocument/2006/relationships/font" Target="fonts/LibreBaskerville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15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hyperlink" Target="https://d98f05a1-427a-44c9-8daa-1893a9a350f6-00-2zybn970ws2ot.spock.replit.dev/" TargetMode="External"/><Relationship Id="rId7" Type="http://schemas.openxmlformats.org/officeDocument/2006/relationships/hyperlink" Target="https://youtu.be/mEFySXZEV0w?si=D0yKrmjuLoYyZrqb" TargetMode="External"/><Relationship Id="rId8" Type="http://schemas.openxmlformats.org/officeDocument/2006/relationships/hyperlink" Target="https://github.com/pravallikagangavaram/ManoMitra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3083378" y="101689"/>
            <a:ext cx="6330043" cy="9828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6000"/>
              <a:buFont typeface="Arial Rounded"/>
              <a:buNone/>
            </a:pPr>
            <a:r>
              <a:rPr b="1" lang="en-US">
                <a:solidFill>
                  <a:srgbClr val="385623"/>
                </a:solidFill>
                <a:latin typeface="Arial Rounded"/>
                <a:ea typeface="Arial Rounded"/>
                <a:cs typeface="Arial Rounded"/>
                <a:sym typeface="Arial Rounded"/>
              </a:rPr>
              <a:t>GEEKSTORM</a:t>
            </a:r>
            <a:endParaRPr b="1">
              <a:solidFill>
                <a:srgbClr val="385623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91433" y="1688594"/>
            <a:ext cx="11152800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Number : 80</a:t>
            </a:r>
            <a:endParaRPr b="0" i="0" sz="14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Problem Statement Title : ManoMitra</a:t>
            </a:r>
            <a:endParaRPr b="1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(An AI based mental health support system).</a:t>
            </a:r>
            <a:endParaRPr b="0" i="0" sz="1400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Name  : Data Pirates. 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Name: ManoMitra</a:t>
            </a:r>
            <a:endParaRPr b="1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23793" l="0" r="8282" t="18655"/>
          <a:stretch/>
        </p:blipFill>
        <p:spPr>
          <a:xfrm>
            <a:off x="179614" y="106996"/>
            <a:ext cx="1301577" cy="68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5608" y="82166"/>
            <a:ext cx="857250" cy="7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5">
            <a:alphaModFix/>
          </a:blip>
          <a:srcRect b="32958" l="12696" r="13869" t="20542"/>
          <a:stretch/>
        </p:blipFill>
        <p:spPr>
          <a:xfrm>
            <a:off x="11136713" y="5884116"/>
            <a:ext cx="972802" cy="891718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ctrTitle"/>
          </p:nvPr>
        </p:nvSpPr>
        <p:spPr>
          <a:xfrm>
            <a:off x="3083378" y="101689"/>
            <a:ext cx="6330043" cy="9828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6000"/>
              <a:buFont typeface="Arial Rounded"/>
              <a:buNone/>
            </a:pPr>
            <a:r>
              <a:rPr b="1" lang="en-US">
                <a:solidFill>
                  <a:srgbClr val="385623"/>
                </a:solidFill>
                <a:latin typeface="Arial Rounded"/>
                <a:ea typeface="Arial Rounded"/>
                <a:cs typeface="Arial Rounded"/>
                <a:sym typeface="Arial Rounded"/>
              </a:rPr>
              <a:t>GEEKSTORM</a:t>
            </a:r>
            <a:endParaRPr b="1">
              <a:solidFill>
                <a:srgbClr val="385623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79614" y="982752"/>
            <a:ext cx="7295842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PROBLEM STATEMENT</a:t>
            </a:r>
            <a:endParaRPr b="1" i="0" sz="3600" u="none" cap="none" strike="noStrike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23793" l="0" r="8282" t="18655"/>
          <a:stretch/>
        </p:blipFill>
        <p:spPr>
          <a:xfrm>
            <a:off x="179614" y="106996"/>
            <a:ext cx="1301577" cy="68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5608" y="82166"/>
            <a:ext cx="857250" cy="7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5">
            <a:alphaModFix/>
          </a:blip>
          <a:srcRect b="32958" l="12696" r="13869" t="20542"/>
          <a:stretch/>
        </p:blipFill>
        <p:spPr>
          <a:xfrm>
            <a:off x="11136713" y="5884116"/>
            <a:ext cx="972802" cy="891718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pic>
      <p:sp>
        <p:nvSpPr>
          <p:cNvPr id="100" name="Google Shape;100;p14"/>
          <p:cNvSpPr txBox="1"/>
          <p:nvPr/>
        </p:nvSpPr>
        <p:spPr>
          <a:xfrm>
            <a:off x="407100" y="1982975"/>
            <a:ext cx="7149300" cy="395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Many students face stress and anxiety but avoid seeking help due to stigma and limited access. Existing solutions are often complex and unengaging. There is a need for a simple, accessible platform to track mood and express emotions. The goal is to develop an AI-powered assistant providing personalized support, engagement, and emergency help anytime.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02078" y="1459786"/>
            <a:ext cx="4810308" cy="4234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ctrTitle"/>
          </p:nvPr>
        </p:nvSpPr>
        <p:spPr>
          <a:xfrm>
            <a:off x="3083378" y="101689"/>
            <a:ext cx="63300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6000"/>
              <a:buFont typeface="Arial Rounded"/>
              <a:buNone/>
            </a:pPr>
            <a:r>
              <a:rPr b="1" lang="en-US">
                <a:solidFill>
                  <a:srgbClr val="385623"/>
                </a:solidFill>
                <a:latin typeface="Arial Rounded"/>
                <a:ea typeface="Arial Rounded"/>
                <a:cs typeface="Arial Rounded"/>
                <a:sym typeface="Arial Rounded"/>
              </a:rPr>
              <a:t>GEEKSTORM</a:t>
            </a:r>
            <a:endParaRPr b="1">
              <a:solidFill>
                <a:srgbClr val="385623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0" y="1446250"/>
            <a:ext cx="7490400" cy="5215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🚩 </a:t>
            </a:r>
            <a:r>
              <a:rPr b="1" i="0" lang="en-US" sz="3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Challenge Statement</a:t>
            </a:r>
            <a:endParaRPr b="1" i="0" sz="36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face stress and anxiety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hesitate to ask for help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Mental health support is not easily available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apps are complex and not user-friendly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a simple, safe, and accessible solution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AI-based support and mood tracking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23793" l="0" r="8282" t="18655"/>
          <a:stretch/>
        </p:blipFill>
        <p:spPr>
          <a:xfrm>
            <a:off x="179614" y="106996"/>
            <a:ext cx="1301578" cy="68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5608" y="82166"/>
            <a:ext cx="857250" cy="7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5">
            <a:alphaModFix/>
          </a:blip>
          <a:srcRect b="32958" l="12696" r="13869" t="20542"/>
          <a:stretch/>
        </p:blipFill>
        <p:spPr>
          <a:xfrm>
            <a:off x="11136713" y="5884116"/>
            <a:ext cx="972900" cy="8916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2112" y="1716443"/>
            <a:ext cx="4841051" cy="3695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ctrTitle"/>
          </p:nvPr>
        </p:nvSpPr>
        <p:spPr>
          <a:xfrm>
            <a:off x="3125089" y="845210"/>
            <a:ext cx="633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00000"/>
              <a:buFont typeface="Arial Rounded"/>
              <a:buNone/>
            </a:pPr>
            <a:r>
              <a:rPr b="1" lang="en-US">
                <a:solidFill>
                  <a:srgbClr val="385623"/>
                </a:solidFill>
                <a:latin typeface="Arial Rounded"/>
                <a:ea typeface="Arial Rounded"/>
                <a:cs typeface="Arial Rounded"/>
                <a:sym typeface="Arial Rounded"/>
              </a:rPr>
              <a:t>GEEKSTORM</a:t>
            </a:r>
            <a:endParaRPr b="1">
              <a:solidFill>
                <a:srgbClr val="385623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943611" y="1184496"/>
            <a:ext cx="3048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23793" l="0" r="8282" t="18655"/>
          <a:stretch/>
        </p:blipFill>
        <p:spPr>
          <a:xfrm>
            <a:off x="179625" y="90742"/>
            <a:ext cx="1301576" cy="23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5620" y="82173"/>
            <a:ext cx="857250" cy="27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5">
            <a:alphaModFix/>
          </a:blip>
          <a:srcRect b="32958" l="12696" r="13869" t="20542"/>
          <a:stretch/>
        </p:blipFill>
        <p:spPr>
          <a:xfrm>
            <a:off x="11136725" y="6468027"/>
            <a:ext cx="972900" cy="3078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pic>
      <p:sp>
        <p:nvSpPr>
          <p:cNvPr id="122" name="Google Shape;122;p16"/>
          <p:cNvSpPr txBox="1"/>
          <p:nvPr/>
        </p:nvSpPr>
        <p:spPr>
          <a:xfrm>
            <a:off x="319130" y="90742"/>
            <a:ext cx="10408200" cy="6678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features</a:t>
            </a:r>
            <a:endParaRPr b="1" i="0" sz="36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🤖 AI Chatbot for emotional support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😊 Mood tracking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🎤 Voice assistant (talk &amp; listen)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Dashboard with progress graphs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🎮 Stress-relief games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👥 Community support space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🚨 Emergency help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🔍 Search for resources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⚙️ User settings &amp; personalization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💬 Feedback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3731" y="1523796"/>
            <a:ext cx="6640514" cy="437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ctrTitle"/>
          </p:nvPr>
        </p:nvSpPr>
        <p:spPr>
          <a:xfrm>
            <a:off x="3083378" y="101689"/>
            <a:ext cx="6330043" cy="9828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6000"/>
              <a:buFont typeface="Arial Rounded"/>
              <a:buNone/>
            </a:pPr>
            <a:r>
              <a:rPr b="1" lang="en-US">
                <a:solidFill>
                  <a:srgbClr val="385623"/>
                </a:solidFill>
                <a:latin typeface="Arial Rounded"/>
                <a:ea typeface="Arial Rounded"/>
                <a:cs typeface="Arial Rounded"/>
                <a:sym typeface="Arial Rounded"/>
              </a:rPr>
              <a:t>GEEKSTORM</a:t>
            </a:r>
            <a:endParaRPr b="1">
              <a:solidFill>
                <a:srgbClr val="385623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3">
            <a:alphaModFix/>
          </a:blip>
          <a:srcRect b="23793" l="0" r="8282" t="18655"/>
          <a:stretch/>
        </p:blipFill>
        <p:spPr>
          <a:xfrm>
            <a:off x="179614" y="106996"/>
            <a:ext cx="1301577" cy="68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5608" y="82166"/>
            <a:ext cx="857250" cy="7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5">
            <a:alphaModFix/>
          </a:blip>
          <a:srcRect b="32958" l="12696" r="13869" t="20542"/>
          <a:stretch/>
        </p:blipFill>
        <p:spPr>
          <a:xfrm>
            <a:off x="11136713" y="5884116"/>
            <a:ext cx="972802" cy="891718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pic>
      <p:sp>
        <p:nvSpPr>
          <p:cNvPr id="133" name="Google Shape;133;p17"/>
          <p:cNvSpPr txBox="1"/>
          <p:nvPr/>
        </p:nvSpPr>
        <p:spPr>
          <a:xfrm>
            <a:off x="131000" y="986575"/>
            <a:ext cx="10804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 W01 SemiBold"/>
                <a:ea typeface="Bell MT W01 SemiBold"/>
                <a:cs typeface="Bell MT W01 SemiBold"/>
                <a:sym typeface="Bell MT W01 SemiBold"/>
              </a:rPr>
              <a:t>Proposed</a:t>
            </a:r>
            <a:r>
              <a:rPr lang="en-US" sz="2800">
                <a:latin typeface="Bell MT W01 SemiBold"/>
                <a:ea typeface="Bell MT W01 SemiBold"/>
                <a:cs typeface="Bell MT W01 SemiBold"/>
                <a:sym typeface="Bell MT W01 SemiBold"/>
              </a:rPr>
              <a:t> Prototype Link :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hlink"/>
                </a:solidFill>
                <a:hlinkClick r:id="rId6"/>
              </a:rPr>
              <a:t>https://d98f05a1-427a-44c9-8daa-1893a9a350f6-00-2zybn970ws2ot.spock.replit.dev/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292875" y="2995075"/>
            <a:ext cx="110772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Bell MT W01 SemiBold"/>
                <a:ea typeface="Bell MT W01 SemiBold"/>
                <a:cs typeface="Bell MT W01 SemiBold"/>
                <a:sym typeface="Bell MT W01 SemiBold"/>
              </a:rPr>
              <a:t>video link:</a:t>
            </a:r>
            <a:endParaRPr i="0" sz="2800" u="none" cap="none" strike="noStrike">
              <a:solidFill>
                <a:schemeClr val="dk1"/>
              </a:solidFill>
              <a:latin typeface="Bell MT W01 SemiBold"/>
              <a:ea typeface="Bell MT W01 SemiBold"/>
              <a:cs typeface="Bell MT W01 SemiBold"/>
              <a:sym typeface="Bell MT W01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	</a:t>
            </a:r>
            <a:r>
              <a:rPr b="1" lang="en-US" sz="2100" u="sng">
                <a:solidFill>
                  <a:schemeClr val="hlink"/>
                </a:solidFill>
                <a:latin typeface="Libre Baskerville"/>
                <a:ea typeface="Libre Baskerville"/>
                <a:cs typeface="Libre Baskerville"/>
                <a:sym typeface="Libre Baskerville"/>
                <a:hlinkClick r:id="rId7"/>
              </a:rPr>
              <a:t>https://youtu.be/mEFySXZEV0w?si=D0yKrmjuLoYyZrqb</a:t>
            </a:r>
            <a:endParaRPr b="1" sz="21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92875" y="5184225"/>
            <a:ext cx="103956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-US" sz="2800" u="none" cap="none" strike="noStrike">
                <a:solidFill>
                  <a:schemeClr val="dk1"/>
                </a:solidFill>
                <a:latin typeface="Bell MT W01 SemiBold"/>
                <a:ea typeface="Bell MT W01 SemiBold"/>
                <a:cs typeface="Bell MT W01 SemiBold"/>
                <a:sym typeface="Bell MT W01 SemiBold"/>
              </a:rPr>
              <a:t>Github link:</a:t>
            </a:r>
            <a:endParaRPr i="0" sz="2800" u="none" cap="none" strike="noStrike">
              <a:solidFill>
                <a:schemeClr val="dk1"/>
              </a:solidFill>
              <a:latin typeface="Bell MT W01 SemiBold"/>
              <a:ea typeface="Bell MT W01 SemiBold"/>
              <a:cs typeface="Bell MT W01 SemiBold"/>
              <a:sym typeface="Bell MT W01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Bell MT W01 SemiBold"/>
                <a:ea typeface="Bell MT W01 SemiBold"/>
                <a:cs typeface="Bell MT W01 SemiBold"/>
                <a:sym typeface="Bell MT W01 SemiBold"/>
              </a:rPr>
              <a:t>	</a:t>
            </a:r>
            <a:r>
              <a:rPr lang="en-US" sz="2800" u="sng">
                <a:solidFill>
                  <a:schemeClr val="hlink"/>
                </a:solidFill>
                <a:latin typeface="Bell MT W01 SemiBold"/>
                <a:ea typeface="Bell MT W01 SemiBold"/>
                <a:cs typeface="Bell MT W01 SemiBold"/>
                <a:sym typeface="Bell MT W01 SemiBold"/>
                <a:hlinkClick r:id="rId8"/>
              </a:rPr>
              <a:t>https://github.com/pravallikagangavaram/ManoMitra</a:t>
            </a:r>
            <a:endParaRPr sz="2800">
              <a:solidFill>
                <a:schemeClr val="dk1"/>
              </a:solidFill>
              <a:latin typeface="Bell MT W01 SemiBold"/>
              <a:ea typeface="Bell MT W01 SemiBold"/>
              <a:cs typeface="Bell MT W01 SemiBold"/>
              <a:sym typeface="Bell MT W01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ctrTitle"/>
          </p:nvPr>
        </p:nvSpPr>
        <p:spPr>
          <a:xfrm>
            <a:off x="3083378" y="101689"/>
            <a:ext cx="6330043" cy="9828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6000"/>
              <a:buFont typeface="Arial Rounded"/>
              <a:buNone/>
            </a:pPr>
            <a:r>
              <a:rPr b="1" lang="en-US">
                <a:solidFill>
                  <a:srgbClr val="385623"/>
                </a:solidFill>
                <a:latin typeface="Arial Rounded"/>
                <a:ea typeface="Arial Rounded"/>
                <a:cs typeface="Arial Rounded"/>
                <a:sym typeface="Arial Rounded"/>
              </a:rPr>
              <a:t>GEEKSTORM</a:t>
            </a:r>
            <a:endParaRPr b="1">
              <a:solidFill>
                <a:srgbClr val="385623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23793" l="0" r="8282" t="18655"/>
          <a:stretch/>
        </p:blipFill>
        <p:spPr>
          <a:xfrm>
            <a:off x="179614" y="106996"/>
            <a:ext cx="1301577" cy="68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5608" y="82166"/>
            <a:ext cx="857250" cy="7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5">
            <a:alphaModFix/>
          </a:blip>
          <a:srcRect b="32958" l="12696" r="13869" t="20542"/>
          <a:stretch/>
        </p:blipFill>
        <p:spPr>
          <a:xfrm>
            <a:off x="11136713" y="5884116"/>
            <a:ext cx="972802" cy="891718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3137"/>
              </a:srgbClr>
            </a:outerShdw>
          </a:effectLst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426" y="1151441"/>
            <a:ext cx="10143240" cy="5522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